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A57"/>
    <a:srgbClr val="0D1B2A"/>
    <a:srgbClr val="C8D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3348" autoAdjust="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Goals</c:v>
                </c:pt>
              </c:strCache>
            </c:strRef>
          </c:tx>
          <c:spPr>
            <a:solidFill>
              <a:srgbClr val="1FAE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06F-4953-ADF8-067BF66E67F6}"/>
              </c:ext>
            </c:extLst>
          </c:dPt>
          <c:dPt>
            <c:idx val="1"/>
            <c:invertIfNegative val="0"/>
            <c:bubble3D val="0"/>
            <c:spPr>
              <a:solidFill>
                <a:srgbClr val="1590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6F-4953-ADF8-067BF66E67F6}"/>
              </c:ext>
            </c:extLst>
          </c:dPt>
          <c:dPt>
            <c:idx val="2"/>
            <c:invertIfNegative val="0"/>
            <c:bubble3D val="0"/>
            <c:spPr>
              <a:solidFill>
                <a:srgbClr val="0D6F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6F-4953-ADF8-067BF66E67F6}"/>
              </c:ext>
            </c:extLst>
          </c:dPt>
          <c:dPt>
            <c:idx val="3"/>
            <c:invertIfNegative val="0"/>
            <c:bubble3D val="0"/>
            <c:spPr>
              <a:solidFill>
                <a:srgbClr val="0A56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06F-4953-ADF8-067BF66E67F6}"/>
              </c:ext>
            </c:extLst>
          </c:dPt>
          <c:dPt>
            <c:idx val="4"/>
            <c:invertIfNegative val="0"/>
            <c:bubble3D val="0"/>
            <c:spPr>
              <a:solidFill>
                <a:srgbClr val="083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06F-4953-ADF8-067BF66E67F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Boateng</c:v>
                </c:pt>
                <c:pt idx="1">
                  <c:v>F.Cleveland</c:v>
                </c:pt>
                <c:pt idx="2">
                  <c:v>Hugo Lloris</c:v>
                </c:pt>
                <c:pt idx="3">
                  <c:v>Cassano</c:v>
                </c:pt>
                <c:pt idx="4">
                  <c:v>D.Blind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159</c:v>
                </c:pt>
                <c:pt idx="1">
                  <c:v>158</c:v>
                </c:pt>
                <c:pt idx="2">
                  <c:v>158</c:v>
                </c:pt>
                <c:pt idx="3">
                  <c:v>156</c:v>
                </c:pt>
                <c:pt idx="4">
                  <c:v>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06F-4953-ADF8-067BF66E67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6E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4A6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6E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B3A5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Wins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91-42B1-81A7-73CEC5001107}"/>
              </c:ext>
            </c:extLst>
          </c:dPt>
          <c:dPt>
            <c:idx val="1"/>
            <c:invertIfNegative val="0"/>
            <c:bubble3D val="0"/>
            <c:spPr>
              <a:solidFill>
                <a:srgbClr val="1B3A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91-42B1-81A7-73CEC5001107}"/>
              </c:ext>
            </c:extLst>
          </c:dPt>
          <c:dPt>
            <c:idx val="2"/>
            <c:invertIfNegative val="0"/>
            <c:bubble3D val="0"/>
            <c:spPr>
              <a:solidFill>
                <a:srgbClr val="155B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91-42B1-81A7-73CEC5001107}"/>
              </c:ext>
            </c:extLst>
          </c:dPt>
          <c:dPt>
            <c:idx val="3"/>
            <c:invertIfNegative val="0"/>
            <c:bubble3D val="0"/>
            <c:spPr>
              <a:solidFill>
                <a:srgbClr val="0A7E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B91-42B1-81A7-73CEC5001107}"/>
              </c:ext>
            </c:extLst>
          </c:dPt>
          <c:dPt>
            <c:idx val="4"/>
            <c:invertIfNegative val="0"/>
            <c:bubble3D val="0"/>
            <c:spPr>
              <a:solidFill>
                <a:srgbClr val="1FAE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B91-42B1-81A7-73CEC500110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Liverpool</c:v>
                </c:pt>
                <c:pt idx="1">
                  <c:v>Sunderland</c:v>
                </c:pt>
                <c:pt idx="2">
                  <c:v>Bayern Munich</c:v>
                </c:pt>
                <c:pt idx="3">
                  <c:v>Man City</c:v>
                </c:pt>
                <c:pt idx="4">
                  <c:v>ManUtd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170</c:v>
                </c:pt>
                <c:pt idx="1">
                  <c:v>158</c:v>
                </c:pt>
                <c:pt idx="2">
                  <c:v>157</c:v>
                </c:pt>
                <c:pt idx="3">
                  <c:v>156</c:v>
                </c:pt>
                <c:pt idx="4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B91-42B1-81A7-73CEC50011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85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project: Hockey Data Warehouse built on Azure using PySpark and Delta Lake.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 — 7 sections covering everything from source data to final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objectives of the project. Emphasise the end-to-end automation aspect.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technologies used. Azure is the cloud backbone, PySpark for transformation, Delta Lake for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source files: player stats, team stats, and a pre-built date dimension. Key point: team stats has no month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 schema with 6 dimensions and 2 facts. Key design: Club rows set club_id, International rows set country_id.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Fully automated pipeline. Uploading a CSV to Blob fires the trigger, ADF copies to ADLS, runs the Databricks notebook, which outputs CSV and Delta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critical bugs found and fixed. The most impactful: joining dim_time on year alone caused 12x row inflation.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1-3. Key insight for R2: all 150 players are equally tied — synthetic test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4 and 5. Barthez leads red cards. Liverpool is the most successful club with 170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 output: 5 CSV files in ADLS for downstream consumption, and 8 Delta tables in Databricks for SQL querying.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up. Emphasise the automation, correct schema design, and the key lesson around join fan-out prevention.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9B779-AB26-D290-10E6-E224BD5F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62632-58F9-1A63-8183-85CBB9B0C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A6606-1807-E704-FB29-3B6C4106B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up. Emphasise the automation, correct schema design, and the key lesson around join fan-out prevention.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F77F8-8A82-EBF3-891D-28B4858E0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11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548640" y="-548640"/>
            <a:ext cx="1828800" cy="1828800"/>
          </a:xfrm>
          <a:prstGeom prst="ellipse">
            <a:avLst/>
          </a:prstGeom>
          <a:solidFill>
            <a:srgbClr val="1FAEFF">
              <a:alpha val="20000"/>
            </a:srgbClr>
          </a:solidFill>
          <a:ln w="12700">
            <a:solidFill>
              <a:srgbClr val="1FA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258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HOCKEY DATA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0574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Report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3337560"/>
            <a:ext cx="1645920" cy="36576"/>
          </a:xfrm>
          <a:prstGeom prst="rect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749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06440" y="98298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806440" y="9829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Databricks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203454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806440" y="20345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Factory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06440" y="308610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806440" y="30861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ADLS Gen2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52360" y="98298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452360" y="9829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452360" y="203454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452360" y="20345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Table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452360" y="308610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452360" y="30861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5216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Cloud Data Pipeline</a:t>
            </a:r>
            <a:endParaRPr lang="en-US" sz="12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2F556D82-486B-E529-88FA-41A2B0020D44}"/>
              </a:ext>
            </a:extLst>
          </p:cNvPr>
          <p:cNvSpPr/>
          <p:nvPr/>
        </p:nvSpPr>
        <p:spPr>
          <a:xfrm>
            <a:off x="3516922" y="4223385"/>
            <a:ext cx="2152357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IN" sz="1300" dirty="0" err="1">
                <a:solidFill>
                  <a:srgbClr val="C8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Nikhitha</a:t>
            </a:r>
            <a:r>
              <a:rPr lang="en-IN" sz="1300" dirty="0">
                <a:solidFill>
                  <a:srgbClr val="C8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300" dirty="0" err="1">
                <a:solidFill>
                  <a:srgbClr val="C8D6E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Chenna</a:t>
            </a:r>
            <a:endParaRPr lang="en-IN" sz="1300" dirty="0">
              <a:solidFill>
                <a:srgbClr val="C8D6E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06070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3898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technology stack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203911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15568" y="202082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350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input files — player stats, team stats, date dimension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299923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15568" y="298094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— 6 dimensions, 2 fact tables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" y="395935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5568" y="394106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Architecture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270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ADF, Blob, ADLS, Databricks orchestration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56048" y="107899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04688" y="106070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&amp; Challenges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04688" y="13898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 prevention and key fixes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96596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56048" y="203911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04688" y="202082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Reports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04688" y="2350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reports with actual results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92608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56048" y="299923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04688" y="298094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04688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and learnings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344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Star Schema for Hockey player and team statistics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ADLS Gen2 to Azure Databricks workspace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6118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PySpark ETL to populate dimension and fact tables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83480" y="1344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13258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data ingestion from Blob Storage via ADF pipeline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834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0" y="24688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results as CSV in ADLS and Delta Native Tables in ADB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352044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83480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6118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5 analytical reports from fact &amp; dimension tables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Databricks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&amp; Notebook Execution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0" y="10515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55BA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344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Factory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3832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Orchestration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35040" y="10515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A7EA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3444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ADLS Gen2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 Storage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65760" y="29718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Blob Storage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4864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File Landing Zone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200400" y="29718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155BA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15468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8328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38328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 Language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035040" y="29718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A7EA4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15468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21792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Table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21792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Table Format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 — 3 INPUT FILES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Stats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hockey_player_stats.csv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10,800 rows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unique players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years: 2010–2012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Match: Club + International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columns incl. Goals, Salary, Red Cards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14300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383280" y="1234440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832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59352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Stats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hockey_team_stats.csv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1,440 rows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unique clubs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Leagues: EPL, La Liga, Bundesliga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3383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Match: Club + International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8328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Month column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114300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63640" y="1234440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636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9712" y="1280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Dimension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dim_date.csv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4,017 rows (daily)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2560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range: 2008–2018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2010–2012 fully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63640" y="3383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date attributes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364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build dim_time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kern="0" spc="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— DIMENSIONAL MODEL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2834640" y="1188720"/>
            <a:ext cx="3383280" cy="1115568"/>
          </a:xfrm>
          <a:prstGeom prst="roundRect">
            <a:avLst>
              <a:gd name="adj" fmla="val 8197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FACT: Player Stats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34640" y="16276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time_id · match_type_id · player_id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club_id · country_id + 14 measures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34640" y="2606040"/>
            <a:ext cx="3383280" cy="1115568"/>
          </a:xfrm>
          <a:prstGeom prst="roundRect">
            <a:avLst>
              <a:gd name="adj" fmla="val 8197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FACT: Team Stats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304495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time_id · match_type_id · league_id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club_id · country_id + 6 measures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7772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155BA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10896" y="8321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" y="12161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· quarter · month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" y="2121408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155BA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0896" y="2176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dim_match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match_type_id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match_name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" y="3465576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155BA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0896" y="3520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dim_player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" y="39044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player_id · player_name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· dob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01968" y="7772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155BA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11696" y="8321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dim_league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11696" y="12161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league_name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01968" y="2121408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155BA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11696" y="2176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dim_club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11696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club_id · club_name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· owner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01968" y="3465576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155BA3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11696" y="3520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dim_country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1696" y="39044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country_name · coach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1417320"/>
            <a:ext cx="384048" cy="0"/>
          </a:xfrm>
          <a:prstGeom prst="line">
            <a:avLst/>
          </a:prstGeom>
          <a:noFill/>
          <a:ln w="12700">
            <a:solidFill>
              <a:srgbClr val="8899A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 flipV="1">
            <a:off x="6217920" y="2743200"/>
            <a:ext cx="384048" cy="761"/>
          </a:xfrm>
          <a:prstGeom prst="line">
            <a:avLst/>
          </a:prstGeom>
          <a:noFill/>
          <a:ln w="12700">
            <a:solidFill>
              <a:srgbClr val="8899A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37160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Dimension Tables  ·  2 Fact Tables  ·  Surrogate keys via dense_rank()</a:t>
            </a:r>
            <a:endParaRPr lang="en-US" sz="1050" dirty="0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89AE6865-93A0-CE6B-0C5F-8A080601625E}"/>
              </a:ext>
            </a:extLst>
          </p:cNvPr>
          <p:cNvSpPr/>
          <p:nvPr/>
        </p:nvSpPr>
        <p:spPr>
          <a:xfrm flipV="1">
            <a:off x="2596896" y="1737360"/>
            <a:ext cx="237744" cy="0"/>
          </a:xfrm>
          <a:prstGeom prst="line">
            <a:avLst/>
          </a:prstGeom>
          <a:noFill/>
          <a:ln w="12700">
            <a:solidFill>
              <a:srgbClr val="8899A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5721E0B2-F640-2B12-F66E-E550826B2799}"/>
              </a:ext>
            </a:extLst>
          </p:cNvPr>
          <p:cNvSpPr/>
          <p:nvPr/>
        </p:nvSpPr>
        <p:spPr>
          <a:xfrm>
            <a:off x="2670048" y="3520440"/>
            <a:ext cx="164592" cy="0"/>
          </a:xfrm>
          <a:prstGeom prst="line">
            <a:avLst/>
          </a:prstGeom>
          <a:noFill/>
          <a:ln w="12700">
            <a:solidFill>
              <a:srgbClr val="8899A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PIPELINE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298448" cy="3200400"/>
          </a:xfrm>
          <a:prstGeom prst="roundRect">
            <a:avLst>
              <a:gd name="adj" fmla="val 8451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04088" y="1371600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04088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002536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679192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CSVs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3063240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Blob Storage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(Landing Zone)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45920" y="2697480"/>
            <a:ext cx="109728" cy="0"/>
          </a:xfrm>
          <a:prstGeom prst="line">
            <a:avLst/>
          </a:prstGeom>
          <a:noFill/>
          <a:ln w="25400">
            <a:solidFill>
              <a:srgbClr val="1FA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655064" y="2551176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83080" y="1234440"/>
            <a:ext cx="1298448" cy="3200400"/>
          </a:xfrm>
          <a:prstGeom prst="roundRect">
            <a:avLst>
              <a:gd name="adj" fmla="val 8451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167128" y="1371600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167128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2002536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0" y="2679192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Trigger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828800" y="3063240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ADF Storage Trigger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automatically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108960" y="2697480"/>
            <a:ext cx="109728" cy="0"/>
          </a:xfrm>
          <a:prstGeom prst="line">
            <a:avLst/>
          </a:prstGeom>
          <a:noFill/>
          <a:ln w="25400">
            <a:solidFill>
              <a:srgbClr val="1FA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3118104" y="2551176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246120" y="1234440"/>
            <a:ext cx="1298448" cy="3200400"/>
          </a:xfrm>
          <a:prstGeom prst="roundRect">
            <a:avLst>
              <a:gd name="adj" fmla="val 8451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3630168" y="1371600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3630168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2002536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291840" y="2679192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Data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291840" y="3063240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 → ADLS Gen2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ADF activity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572000" y="2697480"/>
            <a:ext cx="109728" cy="0"/>
          </a:xfrm>
          <a:prstGeom prst="line">
            <a:avLst/>
          </a:prstGeom>
          <a:noFill/>
          <a:ln w="25400">
            <a:solidFill>
              <a:srgbClr val="1FA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4581144" y="2551176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709160" y="1234440"/>
            <a:ext cx="1298448" cy="3200400"/>
          </a:xfrm>
          <a:prstGeom prst="roundRect">
            <a:avLst>
              <a:gd name="adj" fmla="val 8451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5093208" y="1371600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5"/>
          <p:cNvSpPr/>
          <p:nvPr/>
        </p:nvSpPr>
        <p:spPr>
          <a:xfrm>
            <a:off x="5093208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064" y="2002536"/>
            <a:ext cx="548640" cy="5486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754880" y="2679192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Notebook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754880" y="3063240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ADF executes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PySpark NB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035040" y="2697480"/>
            <a:ext cx="109728" cy="0"/>
          </a:xfrm>
          <a:prstGeom prst="line">
            <a:avLst/>
          </a:prstGeom>
          <a:noFill/>
          <a:ln w="25400">
            <a:solidFill>
              <a:srgbClr val="1FA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/>
          <p:nvPr/>
        </p:nvSpPr>
        <p:spPr>
          <a:xfrm>
            <a:off x="6044184" y="2551176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172200" y="1234440"/>
            <a:ext cx="1298448" cy="3200400"/>
          </a:xfrm>
          <a:prstGeom prst="roundRect">
            <a:avLst>
              <a:gd name="adj" fmla="val 8451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6556248" y="1371600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2"/>
          <p:cNvSpPr/>
          <p:nvPr/>
        </p:nvSpPr>
        <p:spPr>
          <a:xfrm>
            <a:off x="6556248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2002536"/>
            <a:ext cx="548640" cy="54864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217920" y="2679192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+ Reports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6217920" y="3063240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Dims → Facts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CSV reports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7498080" y="2697480"/>
            <a:ext cx="109728" cy="0"/>
          </a:xfrm>
          <a:prstGeom prst="line">
            <a:avLst/>
          </a:prstGeom>
          <a:noFill/>
          <a:ln w="25400">
            <a:solidFill>
              <a:srgbClr val="1FA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6"/>
          <p:cNvSpPr/>
          <p:nvPr/>
        </p:nvSpPr>
        <p:spPr>
          <a:xfrm>
            <a:off x="7507224" y="2551176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7635240" y="1234440"/>
            <a:ext cx="1298448" cy="3200400"/>
          </a:xfrm>
          <a:prstGeom prst="roundRect">
            <a:avLst>
              <a:gd name="adj" fmla="val 8451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38"/>
          <p:cNvSpPr/>
          <p:nvPr/>
        </p:nvSpPr>
        <p:spPr>
          <a:xfrm>
            <a:off x="8019288" y="1371600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39"/>
          <p:cNvSpPr/>
          <p:nvPr/>
        </p:nvSpPr>
        <p:spPr>
          <a:xfrm>
            <a:off x="8019288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002536"/>
            <a:ext cx="548640" cy="54864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7680960" y="2679192"/>
            <a:ext cx="1207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Tables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7680960" y="3063240"/>
            <a:ext cx="12070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catalog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— KEY CHALLENGES &amp; FIXES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" y="960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12x Row Inflation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96112" y="12893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Joined dim_time on year only — 12 rows/year matched 12 time_ids per raw row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880360" y="109728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0515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30752" y="10058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on BOTH year + month → exact 1-to-1 match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0040" y="173736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452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6112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'NA' Club Entry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96112" y="211226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rows have NULL club_name. PySpark stored it as literal 'NA' in distinct()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2880360" y="192024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87452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30752" y="1828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team_df to Club rows only before building dim_club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320040" y="256032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7480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6112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country_id = NULL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896112" y="29352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'country Name' (lower c) in player file vs 'Country Name' (upper C) in team file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2880360" y="27432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697480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730752" y="2651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 both to 'country_name' before joining dim_country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320040" y="338328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20440"/>
            <a:ext cx="347472" cy="34747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96112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Player Rows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896112" y="37581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player in Club + International rows; distinct() on all cols creates 2 rows/player</a:t>
            </a:r>
            <a:endParaRPr lang="en-US" sz="850" dirty="0"/>
          </a:p>
        </p:txBody>
      </p:sp>
      <p:sp>
        <p:nvSpPr>
          <p:cNvPr id="28" name="Text 19"/>
          <p:cNvSpPr/>
          <p:nvPr/>
        </p:nvSpPr>
        <p:spPr>
          <a:xfrm>
            <a:off x="2880360" y="356616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520440"/>
            <a:ext cx="347472" cy="34747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730752" y="3474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dropDuplicates(['player_name']) — one row per player strictly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320040" y="420624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43400"/>
            <a:ext cx="347472" cy="34747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96112" y="4251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Values 4x Inflated</a:t>
            </a:r>
            <a:endParaRPr lang="en-US" sz="1100" dirty="0"/>
          </a:p>
        </p:txBody>
      </p:sp>
      <p:sp>
        <p:nvSpPr>
          <p:cNvPr id="34" name="Text 23"/>
          <p:cNvSpPr/>
          <p:nvPr/>
        </p:nvSpPr>
        <p:spPr>
          <a:xfrm>
            <a:off x="896112" y="45811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dim_player carried club_id from only one match type causing join mismatches</a:t>
            </a:r>
            <a:endParaRPr lang="en-US" sz="850" dirty="0"/>
          </a:p>
        </p:txBody>
      </p:sp>
      <p:sp>
        <p:nvSpPr>
          <p:cNvPr id="35" name="Text 24"/>
          <p:cNvSpPr/>
          <p:nvPr/>
        </p:nvSpPr>
        <p:spPr>
          <a:xfrm>
            <a:off x="2880360" y="438912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4343400"/>
            <a:ext cx="347472" cy="34747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3730752" y="4297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dim_club and dim_country directly from raw columns, not via dim_player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ANALYTICAL REPORTS — PYSPARK CODE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64592" y="713232"/>
            <a:ext cx="8814816" cy="4315968"/>
          </a:xfrm>
          <a:prstGeom prst="roundRect">
            <a:avLst>
              <a:gd name="adj" fmla="val 2119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713232"/>
            <a:ext cx="384048" cy="4315968"/>
          </a:xfrm>
          <a:prstGeom prst="rect">
            <a:avLst/>
          </a:prstGeom>
          <a:solidFill>
            <a:srgbClr val="111F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73736" y="749808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749808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R1 — Player with Country &amp; Club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3736" y="885139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885139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1FAE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player_club     = fact_player_stats.filter(col('match_type_id')==1).select('player_id','club_id').distinct()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3736" y="1020470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1020470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1FAE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player_country  = fact_player_stats.filter(col('match_type_id')==2).select('player_id','country_id').distinct()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3736" y="1155802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1155802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report1 = player_club.join(player_country,'player_id','inner')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3736" y="1291133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4360" y="1291133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.join(dim_player.select('player_id','player_name'),'player_id','left')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3736" y="1426464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1426464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.join(dim_club.select('club_id','club_name'),'club_id','left')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3736" y="1561795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" y="1561795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.join(dim_country.select('country_id','country_name'),'country_id','left')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3736" y="1697126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4360" y="1697126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.select('player_name','club_name','country_name').orderBy('player_name')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3736" y="1832458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4360" y="1832458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3736" y="1967789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" y="1967789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R2 — Player with Maximum International Appearances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73736" y="2103120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94360" y="2103120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max_val  = fact_player_stats.filter(col('match_type_id')==2).groupBy('player_id')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73736" y="2238451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4360" y="2238451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.agg(sum('appearances').alias('total')).agg(spark_max('total').alias('mv')).collect()[0]['mv']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73736" y="2373782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4360" y="2373782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report2 = fact_player_stats.filter(col('match_type_id')==2).groupBy('player_id')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73736" y="2509114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94360" y="2509114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.agg(sum('appearances').alias('total_appearances')).filter(col('total_appearances')==max_val)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73736" y="2644445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94360" y="2644445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.join(dim_player.select('player_id','player_name'),'player_id','left').select('player_name','total_appearances')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73736" y="2779776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4360" y="2779776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73736" y="2915107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94360" y="2915107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R3 — Top 10 Goal Scorers of 2010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73736" y="3050438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4360" y="3050438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time_2010 = dim_time.filter(col('year')==2010).select('time_id')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73736" y="3185770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94360" y="3185770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report3   = fact_player_stats.join(time_2010,'time_id','inner').groupBy('player_id')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73736" y="3321101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94360" y="3321101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.agg(sum('goals_scored').alias('total_goals')).orderBy(col('total_goals').desc()).limit(10)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73736" y="3456432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94360" y="3456432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.join(dim_player.select('player_id','player_name'),'player_id','left').select('player_name','total_goals')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73736" y="3591763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94360" y="3591763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73736" y="3727094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94360" y="3727094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R4 — Top 5 Players with Most Red Cards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73736" y="3862426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94360" y="3862426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report4 = fact_player_stats.groupBy('player_id')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73736" y="3997757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94360" y="3997757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.agg(sum('red_card').alias('total_red_cards')).orderBy(col('total_red_cards').desc()).limit(5)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73736" y="4133088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94360" y="4133088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.join(dim_player.select('player_id','player_name'),'player_id','left').select('player_name','total_red_cards')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73736" y="4268419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594360" y="4268419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73736" y="4403750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94360" y="4403750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R5 — Top 5 Successful Clubs by Total Wins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73736" y="4539082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94360" y="4539082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report5 = fact_team_stats.groupBy('club_id')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73736" y="4674413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94360" y="4674413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.agg(sum('wins').alias('total_wins')).orderBy(col('total_wins').desc()).limit(5) \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73736" y="4809744"/>
            <a:ext cx="347472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44556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594360" y="4809744"/>
            <a:ext cx="8321040" cy="135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.join(dim_club.select('club_id','club_name'),'club_id','left').select('club_name','total_wins')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REPORTS — 1 to 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with Country &amp; Club They Played For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players · one row per club played per year · Club rows → club_id · International rows → country_id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Sample: Adrian | Real Sociedad | Netherlands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84048" y="2395728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with Maximum International Appearances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fact_player_stats to International rows (match_type_id = 2) · summed appearances per player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2468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150 players tied @ 288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61188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3675888"/>
            <a:ext cx="502920" cy="502920"/>
          </a:xfrm>
          <a:prstGeom prst="ellipse">
            <a:avLst/>
          </a:prstGeom>
          <a:solidFill>
            <a:srgbClr val="1FA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" y="3675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6576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Goal Scorers of 2010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04164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Jerome Boateng — 159 goals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Fredericka Cleveland — 158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 Hugo Lloris — 158</a:t>
            </a:r>
            <a:endParaRPr lang="en-US" sz="10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526280" y="3566160"/>
          <a:ext cx="438912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REPORTS — 4 &amp; 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 — Top 5 Red Card Players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23360" cy="34747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4447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Cards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56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Barthez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18562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249424"/>
            <a:ext cx="4023360" cy="41148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2951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Hulk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29514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7340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Daley Blind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7340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127248"/>
            <a:ext cx="4023360" cy="411480"/>
          </a:xfrm>
          <a:prstGeom prst="rect">
            <a:avLst/>
          </a:prstGeom>
          <a:solidFill>
            <a:srgbClr val="E8EE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3172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Mario Gomez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1729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Gabriel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3611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060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 — Top 5 Clubs by Total Wins</a:t>
            </a:r>
            <a:endParaRPr lang="en-US" sz="13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663440" y="1417320"/>
          <a:ext cx="4160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4572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57200" y="4572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150 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34440" y="4572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560320" y="4572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560320" y="4572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10,800 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37560" y="4572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Player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663440" y="4572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663440" y="4572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1,440 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440680" y="4572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Team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766560" y="4572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766560" y="4572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543800" y="4572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STORAGE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61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Files in ADLS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dbfs</a:t>
            </a:r>
            <a:r>
              <a:rPr lang="en-US" sz="900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:/sink/output/player_report/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dbfs</a:t>
            </a:r>
            <a:r>
              <a:rPr lang="en-US" sz="900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:/sink/output/</a:t>
            </a:r>
            <a:r>
              <a:rPr lang="en-US" sz="900" dirty="0" err="1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max_appearances</a:t>
            </a:r>
            <a:r>
              <a:rPr lang="en-US" sz="900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dbfs</a:t>
            </a:r>
            <a:r>
              <a:rPr lang="en-US" sz="900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:/sink/output/top_scorers_2010/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dbfs</a:t>
            </a:r>
            <a:r>
              <a:rPr lang="en-US" sz="900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:/sink/output/</a:t>
            </a:r>
            <a:r>
              <a:rPr lang="en-US" sz="900" dirty="0" err="1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top_red_cards</a:t>
            </a:r>
            <a:r>
              <a:rPr lang="en-US" sz="900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</a:p>
        </p:txBody>
      </p:sp>
      <p:sp>
        <p:nvSpPr>
          <p:cNvPr id="11" name="Text 8"/>
          <p:cNvSpPr/>
          <p:nvPr/>
        </p:nvSpPr>
        <p:spPr>
          <a:xfrm>
            <a:off x="45720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dbfs</a:t>
            </a:r>
            <a:r>
              <a:rPr lang="en-US" sz="900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:/sink/output/</a:t>
            </a:r>
            <a:r>
              <a:rPr lang="en-US" sz="900" dirty="0" err="1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top_clubs</a:t>
            </a:r>
            <a:r>
              <a:rPr lang="en-US" sz="900" dirty="0">
                <a:solidFill>
                  <a:srgbClr val="1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46320" y="109728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1B3A5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2344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261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Native Tables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983480" y="1929384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55B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4983480" y="19293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report1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715000" y="191109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dbfs</a:t>
            </a: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:/user/hive/warehouse/</a:t>
            </a:r>
            <a:r>
              <a:rPr lang="en-US" sz="1000" dirty="0" err="1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output.db</a:t>
            </a: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/report1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983480" y="2478024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55B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4983480" y="247802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report2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715000" y="245973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dbfs</a:t>
            </a: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:/user/hive/warehouse/</a:t>
            </a:r>
            <a:r>
              <a:rPr lang="en-US" sz="1000" dirty="0" err="1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output.db</a:t>
            </a: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/report2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983480" y="3026664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55B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4983480" y="302666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report3 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715000" y="30083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dbfs</a:t>
            </a: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:/user/hive/warehouse/</a:t>
            </a:r>
            <a:r>
              <a:rPr lang="en-US" sz="1000" dirty="0" err="1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output.db</a:t>
            </a: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/report3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715000" y="355701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dbfs</a:t>
            </a: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:/user/hive/warehouse/</a:t>
            </a:r>
            <a:r>
              <a:rPr lang="en-US" sz="1000" dirty="0" err="1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output.db</a:t>
            </a: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/report4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715000" y="410565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dbfs</a:t>
            </a: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:/user/hive/warehouse/</a:t>
            </a:r>
            <a:r>
              <a:rPr lang="en-US" sz="1000" dirty="0" err="1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output.db</a:t>
            </a: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/report5</a:t>
            </a:r>
            <a:endParaRPr lang="en-US" sz="1000" dirty="0"/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8A41BDBA-3CF8-31C4-3E25-F596F83AFF68}"/>
              </a:ext>
            </a:extLst>
          </p:cNvPr>
          <p:cNvSpPr/>
          <p:nvPr/>
        </p:nvSpPr>
        <p:spPr>
          <a:xfrm>
            <a:off x="4983480" y="3575304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55B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0180C96E-EED6-C2CE-93EC-AD68D4AAB7D2}"/>
              </a:ext>
            </a:extLst>
          </p:cNvPr>
          <p:cNvSpPr/>
          <p:nvPr/>
        </p:nvSpPr>
        <p:spPr>
          <a:xfrm>
            <a:off x="4983480" y="357530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report4 </a:t>
            </a:r>
            <a:endParaRPr lang="en-US" sz="800" dirty="0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28416105-76B2-D5FE-6C3A-6E068DBD7227}"/>
              </a:ext>
            </a:extLst>
          </p:cNvPr>
          <p:cNvSpPr/>
          <p:nvPr/>
        </p:nvSpPr>
        <p:spPr>
          <a:xfrm>
            <a:off x="4983480" y="4128516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55B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71D86F55-74A0-EFB8-EBCC-243C79A8872A}"/>
              </a:ext>
            </a:extLst>
          </p:cNvPr>
          <p:cNvSpPr/>
          <p:nvPr/>
        </p:nvSpPr>
        <p:spPr>
          <a:xfrm>
            <a:off x="4983480" y="41285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report5 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Hockey Data Warehouse — Successfully Delivered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 + Fact Tables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Star Schema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0604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Generated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14630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0372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0372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via ADF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LEARNINGS</a:t>
            </a:r>
            <a:endParaRPr lang="en-US" sz="13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5468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22960" y="31272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fan-out silently inflates data — always validate fact row count against raw source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8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2960" y="35844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match-type design requires careful null management when building each dimension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690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2960" y="40416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ADF event triggers enable true serverless end-to-end automation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2628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2960" y="44988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dense_rank() over composite keys gives deterministic, reproducible surrogate IDs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A59C0-7EAC-014A-A998-DDEACBF64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11F6F6-DCC2-C15B-B20E-B4F6E99BD7AF}"/>
              </a:ext>
            </a:extLst>
          </p:cNvPr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FFDB0B37-943C-9839-B79D-9EA5BB710563}"/>
              </a:ext>
            </a:extLst>
          </p:cNvPr>
          <p:cNvSpPr/>
          <p:nvPr/>
        </p:nvSpPr>
        <p:spPr>
          <a:xfrm>
            <a:off x="2968172" y="1798229"/>
            <a:ext cx="2743200" cy="9755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</a:t>
            </a:r>
            <a:r>
              <a:rPr lang="en-US" sz="4000" b="1" i="1" dirty="0">
                <a:solidFill>
                  <a:srgbClr val="1F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i="1" dirty="0">
                <a:solidFill>
                  <a:srgbClr val="1B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4000" dirty="0">
              <a:solidFill>
                <a:srgbClr val="1B3A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19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2073</Words>
  <Application>Microsoft Office PowerPoint</Application>
  <PresentationFormat>On-screen Show (16:9)</PresentationFormat>
  <Paragraphs>328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Hockey Data Warehouse — Project Presentation</dc:title>
  <dc:subject>PptxGenJS Presentation</dc:subject>
  <dc:creator>PptxGenJS</dc:creator>
  <cp:lastModifiedBy>NIKHITHA CHENNA</cp:lastModifiedBy>
  <cp:revision>22</cp:revision>
  <dcterms:created xsi:type="dcterms:W3CDTF">2026-06-09T21:31:54Z</dcterms:created>
  <dcterms:modified xsi:type="dcterms:W3CDTF">2026-06-15T18:47:10Z</dcterms:modified>
</cp:coreProperties>
</file>